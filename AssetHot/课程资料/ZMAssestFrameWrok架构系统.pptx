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7"/>
  </p:handoutMasterIdLst>
  <p:sldIdLst>
    <p:sldId id="256" r:id="rId3"/>
    <p:sldId id="258" r:id="rId4"/>
    <p:sldId id="264" r:id="rId6"/>
    <p:sldId id="347" r:id="rId7"/>
    <p:sldId id="284" r:id="rId8"/>
    <p:sldId id="285" r:id="rId9"/>
    <p:sldId id="259" r:id="rId10"/>
    <p:sldId id="325" r:id="rId11"/>
    <p:sldId id="326" r:id="rId12"/>
    <p:sldId id="327" r:id="rId13"/>
    <p:sldId id="265" r:id="rId14"/>
    <p:sldId id="260" r:id="rId15"/>
    <p:sldId id="324" r:id="rId16"/>
    <p:sldId id="306" r:id="rId17"/>
    <p:sldId id="261" r:id="rId18"/>
    <p:sldId id="305" r:id="rId19"/>
    <p:sldId id="307" r:id="rId20"/>
    <p:sldId id="266" r:id="rId21"/>
    <p:sldId id="263" r:id="rId22"/>
    <p:sldId id="373" r:id="rId23"/>
    <p:sldId id="374" r:id="rId24"/>
    <p:sldId id="267" r:id="rId25"/>
    <p:sldId id="375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5F5F5F"/>
        </a:solidFill>
        <a:effectLst/>
        <a:uFillTx/>
        <a:latin typeface="Times New Roman" panose="02020603050405020304"/>
        <a:ea typeface="Times New Roman" panose="02020603050405020304"/>
        <a:cs typeface="Times New Roman" panose="02020603050405020304"/>
        <a:sym typeface="Times New Roman" panose="020206030504050203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E6E6E6"/>
    <a:srgbClr val="F3F3F3"/>
    <a:srgbClr val="D700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40" autoAdjust="0"/>
    <p:restoredTop sz="94361" autoAdjust="0"/>
  </p:normalViewPr>
  <p:slideViewPr>
    <p:cSldViewPr snapToObjects="1">
      <p:cViewPr varScale="1">
        <p:scale>
          <a:sx n="108" d="100"/>
          <a:sy n="108" d="100"/>
        </p:scale>
        <p:origin x="-426" y="-78"/>
      </p:cViewPr>
      <p:guideLst>
        <p:guide orient="horz" pos="2262"/>
        <p:guide pos="3924"/>
      </p:guideLst>
    </p:cSldViewPr>
  </p:slideViewPr>
  <p:outlineViewPr>
    <p:cViewPr>
      <p:scale>
        <a:sx n="33" d="100"/>
        <a:sy n="33" d="100"/>
      </p:scale>
      <p:origin x="0" y="-15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小米兰亭" panose="03000502000000000000" charset="-122"/>
        <a:ea typeface="小米兰亭" panose="03000502000000000000" charset="-122"/>
        <a:cs typeface="小米兰亭" panose="03000502000000000000" charset="-122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295800" y="3821991"/>
            <a:ext cx="5157789" cy="39909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ClrTx/>
              <a:buSzTx/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indent="457200">
              <a:buClrTx/>
              <a:buSzTx/>
              <a:buNone/>
              <a:defRPr b="1"/>
            </a:lvl2pPr>
            <a:lvl3pPr marL="0" indent="914400">
              <a:buClrTx/>
              <a:buSzTx/>
              <a:buNone/>
              <a:defRPr b="1"/>
            </a:lvl3pPr>
            <a:lvl4pPr marL="0" indent="1371600">
              <a:buClrTx/>
              <a:buSzTx/>
              <a:buNone/>
              <a:defRPr b="1"/>
            </a:lvl4pPr>
            <a:lvl5pPr marL="0" indent="1828800">
              <a:buClrTx/>
              <a:buSzTx/>
              <a:buNone/>
              <a:defRPr b="1"/>
            </a:lvl5pPr>
          </a:lstStyle>
          <a:p>
            <a:r>
              <a:rPr lang="zh-CN" altLang="en-US" dirty="0"/>
              <a:t>此处输入讲师姓名</a:t>
            </a:r>
            <a:endParaRPr dirty="0"/>
          </a:p>
        </p:txBody>
      </p:sp>
      <p:sp>
        <p:nvSpPr>
          <p:cNvPr id="6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7260" y="6502777"/>
            <a:ext cx="256541" cy="275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矩形 5"/>
          <p:cNvSpPr/>
          <p:nvPr userDrawn="1"/>
        </p:nvSpPr>
        <p:spPr>
          <a:xfrm>
            <a:off x="4277028" y="2035857"/>
            <a:ext cx="7914972" cy="170285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5F5F5F"/>
              </a:solidFill>
              <a:effectLst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4648200" y="3254829"/>
            <a:ext cx="707571" cy="0"/>
          </a:xfrm>
          <a:prstGeom prst="line">
            <a:avLst/>
          </a:prstGeom>
          <a:noFill/>
          <a:ln w="12700" cap="flat">
            <a:solidFill>
              <a:schemeClr val="bg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4528459" y="2286889"/>
            <a:ext cx="7380512" cy="719386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此处输入章标题</a:t>
            </a:r>
            <a:endParaRPr lang="zh-CN" altLang="en-US" dirty="0"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5591944" y="3140968"/>
            <a:ext cx="5157789" cy="39909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ClrTx/>
              <a:buSzTx/>
              <a:buNone/>
              <a:defRPr sz="2400" b="0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0" indent="457200">
              <a:buClrTx/>
              <a:buSzTx/>
              <a:buNone/>
              <a:defRPr b="1"/>
            </a:lvl2pPr>
            <a:lvl3pPr marL="0" indent="914400">
              <a:buClrTx/>
              <a:buSzTx/>
              <a:buNone/>
              <a:defRPr b="1"/>
            </a:lvl3pPr>
            <a:lvl4pPr marL="0" indent="1371600">
              <a:buClrTx/>
              <a:buSzTx/>
              <a:buNone/>
              <a:defRPr b="1"/>
            </a:lvl4pPr>
            <a:lvl5pPr marL="0" indent="1828800">
              <a:buClrTx/>
              <a:buSzTx/>
              <a:buNone/>
              <a:defRPr b="1"/>
            </a:lvl5pPr>
          </a:lstStyle>
          <a:p>
            <a:r>
              <a:rPr lang="zh-CN" altLang="en-US" dirty="0"/>
              <a:t>此处</a:t>
            </a:r>
            <a:r>
              <a:rPr lang="zh-CN" altLang="en-US" dirty="0" smtClean="0"/>
              <a:t>输入节标题</a:t>
            </a:r>
            <a:endParaRPr dirty="0"/>
          </a:p>
        </p:txBody>
      </p:sp>
      <p:sp>
        <p:nvSpPr>
          <p:cNvPr id="3" name="标题 1"/>
          <p:cNvSpPr>
            <a:spLocks noGrp="1"/>
          </p:cNvSpPr>
          <p:nvPr userDrawn="1"/>
        </p:nvSpPr>
        <p:spPr>
          <a:xfrm>
            <a:off x="43180" y="-14605"/>
            <a:ext cx="3881120" cy="38100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7260" y="6502777"/>
            <a:ext cx="256541" cy="275467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47594" y="586855"/>
            <a:ext cx="3046720" cy="0"/>
          </a:xfrm>
          <a:prstGeom prst="line">
            <a:avLst/>
          </a:prstGeom>
          <a:noFill/>
          <a:ln w="12700" cap="flat">
            <a:solidFill>
              <a:schemeClr val="accent2">
                <a:lumMod val="7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0" name="组合 19"/>
          <p:cNvGrpSpPr/>
          <p:nvPr userDrawn="1"/>
        </p:nvGrpSpPr>
        <p:grpSpPr>
          <a:xfrm flipV="1">
            <a:off x="-19588" y="0"/>
            <a:ext cx="860137" cy="597741"/>
            <a:chOff x="-360202" y="-6"/>
            <a:chExt cx="860137" cy="723269"/>
          </a:xfrm>
        </p:grpSpPr>
        <p:grpSp>
          <p:nvGrpSpPr>
            <p:cNvPr id="21" name="组合 20"/>
            <p:cNvGrpSpPr/>
            <p:nvPr/>
          </p:nvGrpSpPr>
          <p:grpSpPr>
            <a:xfrm>
              <a:off x="-155344" y="-6"/>
              <a:ext cx="655279" cy="723266"/>
              <a:chOff x="-20249" y="0"/>
              <a:chExt cx="924448" cy="9144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33" name="矩形 32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-252895" y="-4"/>
              <a:ext cx="655280" cy="723267"/>
              <a:chOff x="-20249" y="0"/>
              <a:chExt cx="924448" cy="914400"/>
            </a:xfrm>
            <a:solidFill>
              <a:schemeClr val="accent2"/>
            </a:solidFill>
          </p:grpSpPr>
          <p:sp>
            <p:nvSpPr>
              <p:cNvPr id="26" name="矩形 25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-360202" y="-3"/>
              <a:ext cx="655279" cy="723266"/>
              <a:chOff x="-20249" y="0"/>
              <a:chExt cx="924448" cy="914400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5" name="等腰三角形 24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solidFill>
                <a:schemeClr val="accent2">
                  <a:lumMod val="75000"/>
                </a:schemeClr>
              </a:solidFill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sp>
        <p:nvSpPr>
          <p:cNvPr id="35" name="文本占位符 34"/>
          <p:cNvSpPr>
            <a:spLocks noGrp="1"/>
          </p:cNvSpPr>
          <p:nvPr>
            <p:ph type="body" sz="quarter" idx="10" hasCustomPrompt="1"/>
          </p:nvPr>
        </p:nvSpPr>
        <p:spPr>
          <a:xfrm>
            <a:off x="983432" y="43360"/>
            <a:ext cx="1657350" cy="543495"/>
          </a:xfrm>
        </p:spPr>
        <p:txBody>
          <a:bodyPr anchor="ctr"/>
          <a:lstStyle>
            <a:lvl1pPr marL="0" indent="0" algn="l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 smtClean="0"/>
              <a:t>标题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增或导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83432" y="69679"/>
            <a:ext cx="4176464" cy="54317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>
              <a:def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/>
              </a:defRPr>
            </a:lvl1pPr>
          </a:lstStyle>
          <a:p>
            <a:pPr lvl="0">
              <a:lnSpc>
                <a:spcPct val="120000"/>
              </a:lnSpc>
              <a:spcBef>
                <a:spcPts val="1000"/>
              </a:spcBef>
              <a:buClr>
                <a:schemeClr val="accent2"/>
              </a:buClr>
              <a:buSzPct val="80000"/>
            </a:pPr>
            <a:r>
              <a:rPr lang="zh-CN" altLang="en-US" dirty="0" smtClean="0"/>
              <a:t>标题</a:t>
            </a:r>
            <a:endParaRPr lang="zh-CN" altLang="en-US" dirty="0"/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7260" y="6502777"/>
            <a:ext cx="256541" cy="275467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447594" y="586855"/>
            <a:ext cx="3046720" cy="0"/>
          </a:xfrm>
          <a:prstGeom prst="line">
            <a:avLst/>
          </a:prstGeom>
          <a:noFill/>
          <a:ln w="12700" cap="flat">
            <a:solidFill>
              <a:schemeClr val="accent2">
                <a:lumMod val="7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文本框 18"/>
          <p:cNvSpPr txBox="1"/>
          <p:nvPr userDrawn="1"/>
        </p:nvSpPr>
        <p:spPr>
          <a:xfrm>
            <a:off x="10635443" y="6472514"/>
            <a:ext cx="21717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Times New Roman" panose="02020603050405020304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-19588" y="0"/>
            <a:ext cx="860137" cy="597741"/>
            <a:chOff x="-360202" y="-6"/>
            <a:chExt cx="860137" cy="723269"/>
          </a:xfrm>
        </p:grpSpPr>
        <p:grpSp>
          <p:nvGrpSpPr>
            <p:cNvPr id="16" name="组合 15"/>
            <p:cNvGrpSpPr/>
            <p:nvPr/>
          </p:nvGrpSpPr>
          <p:grpSpPr>
            <a:xfrm>
              <a:off x="-155344" y="-6"/>
              <a:ext cx="655279" cy="723266"/>
              <a:chOff x="-20249" y="0"/>
              <a:chExt cx="924448" cy="9144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3" name="矩形 22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 dirty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-252895" y="-4"/>
              <a:ext cx="655280" cy="723267"/>
              <a:chOff x="-20249" y="0"/>
              <a:chExt cx="924448" cy="914400"/>
            </a:xfrm>
            <a:solidFill>
              <a:schemeClr val="accent2"/>
            </a:solidFill>
          </p:grpSpPr>
          <p:sp>
            <p:nvSpPr>
              <p:cNvPr id="21" name="矩形 20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grpFill/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-360202" y="-3"/>
              <a:ext cx="655279" cy="723266"/>
              <a:chOff x="-20249" y="0"/>
              <a:chExt cx="924448" cy="914400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-10886" y="0"/>
                <a:ext cx="447418" cy="914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-20249" y="0"/>
                <a:ext cx="924448" cy="914400"/>
              </a:xfrm>
              <a:prstGeom prst="triangle">
                <a:avLst/>
              </a:prstGeom>
              <a:solidFill>
                <a:schemeClr val="accent2">
                  <a:lumMod val="75000"/>
                </a:schemeClr>
              </a:solidFill>
              <a:ln w="12700" cap="flat">
                <a:noFill/>
                <a:prstDash val="solid"/>
                <a:miter lim="8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rgbClr val="5F5F5F"/>
                  </a:solidFill>
                  <a:effectLst/>
                  <a:uFillTx/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</p:grpSp>
      <p:sp>
        <p:nvSpPr>
          <p:cNvPr id="30" name="内容占位符 29"/>
          <p:cNvSpPr>
            <a:spLocks noGrp="1"/>
          </p:cNvSpPr>
          <p:nvPr>
            <p:ph sz="quarter" idx="10"/>
          </p:nvPr>
        </p:nvSpPr>
        <p:spPr>
          <a:xfrm>
            <a:off x="1271588" y="1268413"/>
            <a:ext cx="9825037" cy="49688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iming>
    <p:tnLst>
      <p:par>
        <p:cTn id="1" dur="indefinite" restart="never" nodeType="tmRoot"/>
      </p:par>
    </p:tnLst>
  </p:timing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小米兰亭" panose="03000502000000000000" charset="-122"/>
          <a:ea typeface="小米兰亭" panose="03000502000000000000" charset="-122"/>
          <a:cs typeface="小米兰亭" panose="03000502000000000000" charset="-122"/>
          <a:sym typeface="Arial" panose="020B060402020202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0" baseline="0">
          <a:ln>
            <a:noFill/>
          </a:ln>
          <a:solidFill>
            <a:schemeClr val="accent1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449580" marR="0" indent="-44958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80000"/>
        <a:buFont typeface="Arial" panose="020B0604020202020204" pitchFamily="34" charset="0"/>
        <a:buChar char="•"/>
        <a:defRPr sz="2800" b="0" i="0" u="none" strike="noStrike" cap="none" spc="0" baseline="0">
          <a:ln>
            <a:noFill/>
          </a:ln>
          <a:solidFill>
            <a:schemeClr val="bg1">
              <a:lumMod val="50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Times New Roman" panose="02020603050405020304"/>
        </a:defRPr>
      </a:lvl1pPr>
      <a:lvl2pPr marL="868045" marR="0" indent="-33147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sz="1800" b="0" i="0" u="none" strike="noStrike" cap="none" spc="0" baseline="0">
          <a:ln>
            <a:noFill/>
          </a:ln>
          <a:solidFill>
            <a:schemeClr val="bg1">
              <a:lumMod val="50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Times New Roman" panose="02020603050405020304"/>
        </a:defRPr>
      </a:lvl2pPr>
      <a:lvl3pPr marL="12192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sz="1800" b="0" i="0" u="none" strike="noStrike" cap="none" spc="0" baseline="0">
          <a:ln>
            <a:noFill/>
          </a:ln>
          <a:solidFill>
            <a:schemeClr val="bg1">
              <a:lumMod val="50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Times New Roman" panose="02020603050405020304"/>
        </a:defRPr>
      </a:lvl3pPr>
      <a:lvl4pPr marL="16764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sz="1800" b="0" i="0" u="none" strike="noStrike" cap="none" spc="0" baseline="0">
          <a:ln>
            <a:noFill/>
          </a:ln>
          <a:solidFill>
            <a:schemeClr val="bg1">
              <a:lumMod val="50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Times New Roman" panose="02020603050405020304"/>
        </a:defRPr>
      </a:lvl4pPr>
      <a:lvl5pPr marL="21336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 typeface="Arial" panose="020B0604020202020204" pitchFamily="34" charset="0"/>
        <a:buChar char="•"/>
        <a:defRPr sz="1800" b="0" i="0" u="none" strike="noStrike" cap="none" spc="0" baseline="0">
          <a:ln>
            <a:noFill/>
          </a:ln>
          <a:solidFill>
            <a:schemeClr val="bg1">
              <a:lumMod val="50000"/>
            </a:schemeClr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Times New Roman" panose="02020603050405020304"/>
        </a:defRPr>
      </a:lvl5pPr>
      <a:lvl6pPr marL="25908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Tx/>
        <a:buChar char="•"/>
        <a:defRPr sz="2400" b="0" i="0" u="none" strike="noStrike" cap="none" spc="0" baseline="0">
          <a:ln>
            <a:noFill/>
          </a:ln>
          <a:solidFill>
            <a:srgbClr val="5F5F5F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6pPr>
      <a:lvl7pPr marL="30480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Tx/>
        <a:buChar char="•"/>
        <a:defRPr sz="2400" b="0" i="0" u="none" strike="noStrike" cap="none" spc="0" baseline="0">
          <a:ln>
            <a:noFill/>
          </a:ln>
          <a:solidFill>
            <a:srgbClr val="5F5F5F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7pPr>
      <a:lvl8pPr marL="35052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Tx/>
        <a:buChar char="•"/>
        <a:defRPr sz="2400" b="0" i="0" u="none" strike="noStrike" cap="none" spc="0" baseline="0">
          <a:ln>
            <a:noFill/>
          </a:ln>
          <a:solidFill>
            <a:srgbClr val="5F5F5F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8pPr>
      <a:lvl9pPr marL="3962400" marR="0" indent="-304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>
          <a:schemeClr val="accent2"/>
        </a:buClr>
        <a:buSzPct val="100000"/>
        <a:buFontTx/>
        <a:buChar char="•"/>
        <a:defRPr sz="2400" b="0" i="0" u="none" strike="noStrike" cap="none" spc="0" baseline="0">
          <a:ln>
            <a:noFill/>
          </a:ln>
          <a:solidFill>
            <a:srgbClr val="5F5F5F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"/>
          </p:nvPr>
        </p:nvSpPr>
        <p:spPr>
          <a:xfrm>
            <a:off x="4209415" y="3822065"/>
            <a:ext cx="5631180" cy="464820"/>
          </a:xfrm>
        </p:spPr>
        <p:txBody>
          <a:bodyPr/>
          <a:lstStyle/>
          <a:p>
            <a:r>
              <a:rPr lang="zh-CN" altLang="en-US" dirty="0" smtClean="0">
                <a:cs typeface="Times New Roman" panose="02020603050405020304"/>
              </a:rPr>
              <a:t>讲师：</a:t>
            </a:r>
            <a:r>
              <a:rPr lang="zh-CN" altLang="en-US" dirty="0" smtClean="0">
                <a:cs typeface="Times New Roman" panose="02020603050405020304"/>
                <a:sym typeface="+mn-ea"/>
              </a:rPr>
              <a:t>铸梦  </a:t>
            </a:r>
            <a:endParaRPr lang="zh-CN" altLang="en-US" dirty="0" smtClean="0">
              <a:cs typeface="Times New Roman" panose="02020603050405020304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0">
              <a:lnSpc>
                <a:spcPct val="100000"/>
              </a:lnSpc>
            </a:pPr>
            <a:r>
              <a:rPr lang="en-US" altLang="zh-CN" b="1" dirty="0" smtClean="0">
                <a:sym typeface="Times New Roman" panose="02020603050405020304"/>
              </a:rPr>
              <a:t>ZMAssetsFrameWork</a:t>
            </a:r>
            <a:endParaRPr lang="en-US" altLang="zh-CN" b="1" dirty="0" smtClean="0">
              <a:sym typeface="Times New Roman" panose="02020603050405020304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5521324" y="2996952"/>
            <a:ext cx="5183188" cy="593951"/>
          </a:xfrm>
        </p:spPr>
        <p:txBody>
          <a:bodyPr>
            <a:normAutofit fontScale="70000"/>
          </a:bodyPr>
          <a:lstStyle/>
          <a:p>
            <a:pPr>
              <a:buNone/>
            </a:pPr>
            <a:r>
              <a:rPr lang="zh-CN" alt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一款多模块、 商业级的资源热更加载框架</a:t>
            </a:r>
            <a:endParaRPr lang="zh-CN" altLang="en-US" b="1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剪去对角的矩形 1"/>
          <p:cNvSpPr/>
          <p:nvPr userDrawn="1"/>
        </p:nvSpPr>
        <p:spPr>
          <a:xfrm>
            <a:off x="7620" y="-5184"/>
            <a:ext cx="2664020" cy="684005"/>
          </a:xfrm>
          <a:prstGeom prst="snip2DiagRect">
            <a:avLst/>
          </a:prstGeom>
          <a:solidFill>
            <a:schemeClr val="accent1">
              <a:lumMod val="75000"/>
            </a:schemeClr>
          </a:solidFill>
          <a:ln w="12700" cap="flat">
            <a:solidFill>
              <a:schemeClr val="bg1">
                <a:lumMod val="10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5F5F5F"/>
              </a:solidFill>
              <a:effectLst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标题 3"/>
          <p:cNvSpPr>
            <a:spLocks noGrp="1"/>
          </p:cNvSpPr>
          <p:nvPr/>
        </p:nvSpPr>
        <p:spPr>
          <a:xfrm>
            <a:off x="-64135" y="74930"/>
            <a:ext cx="2771775" cy="603885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800" b="0" i="0" u="none" strike="noStrike" cap="none" spc="0" baseline="0">
                <a:ln>
                  <a:noFill/>
                </a:ln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小米兰亭" panose="03000502000000000000" charset="-122"/>
                <a:sym typeface="Arial" panose="020B0604020202020204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 hangingPunct="0">
              <a:lnSpc>
                <a:spcPct val="10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sym typeface="Times New Roman" panose="02020603050405020304"/>
              </a:rPr>
              <a:t>《铸梦之路 六》</a:t>
            </a:r>
            <a:endParaRPr lang="zh-CN" altLang="en-US" sz="2400" b="1" dirty="0" smtClean="0">
              <a:solidFill>
                <a:schemeClr val="bg1"/>
              </a:solidFill>
              <a:sym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1070" y="106680"/>
            <a:ext cx="427228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课程收获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5955" y="583565"/>
            <a:ext cx="11040110" cy="65532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1.多模块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资源热更、多模块资源加载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2.多版本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资源热更、多版本资源控制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3.多线程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资源下载、多线程负载均衡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加密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解密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(AES)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5.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内嵌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解压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游戏启动时进行解压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内存引用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资源内存释放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版本热更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，资源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版本回退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资源加载、卸载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以及内存引用、引用丢失坑点所在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同步加载、异步加载。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可寻址加载、全包加载、下载中加载。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11.AssetBunele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加载对象、图集、图片、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Txt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、音频、ScriptablObject等等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资源对象池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对象皆由资源管理器控制、管理、维护）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13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模式、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Editor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模式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14.AssetBundle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底层打包机制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打包原理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分包管理策略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17.AssetBundle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多模块资源打包、热更、配置、编译器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18.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适用于国内外的非常完善的一套资源打包、热更、下载、加载框架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一套主程必备、毕业级的资源热更打包框架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1070" y="106680"/>
            <a:ext cx="427228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框架功能介绍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760" y="749935"/>
            <a:ext cx="11288395" cy="56502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1070" y="106680"/>
            <a:ext cx="427228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框架设计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0" y="247015"/>
            <a:ext cx="6512560" cy="64954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是什么？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6305" y="986155"/>
            <a:ext cx="8813165" cy="39681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AssetBundle是unity提供的一个特定平台的归档文件（archive file）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热更新的一部分，用于对游戏资源进行打包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可以在运行时加载。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AssetBundle包可以明确的表示互相之间的依赖关系，如a包中的材质引用了b包中的贴图。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AssetBundle为了在网络上高效的传输，可以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具实际需求选择内置的压缩算法。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可打包脚本以外的所有资源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常用更新为界面、模型、特效、音频文件、配置文件等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，应用在启动时或运行中下载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AssetBuneld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至本地进行动态加载资源实现热更新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总结：AssetBundle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可以实现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游戏资源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热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更新，减少游戏安装包大小，优化资源加载。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691007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为什么要使用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6305" y="706120"/>
            <a:ext cx="8813165" cy="412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Untiy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中的资源加载方式有以下几种：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1179195"/>
            <a:ext cx="10600055" cy="2743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16305" y="4125595"/>
            <a:ext cx="8813165" cy="26752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加载的优缺点：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优点：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加载速度快,占用内存小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可即时热更下载加载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缺点：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依赖关系处理不当加载时会出问题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依赖关系处理不当，释放资源时会造成引用丢失的情况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加载加密的AB包可能会失败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打包原理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545" y="880110"/>
            <a:ext cx="7075170" cy="39681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BuildPipeline.BuildAssetBundles()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我们在调用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BuildPipeline.BuildAssetBundles()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接口打包时，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Unity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会自动把所有的设置了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AssetBundleName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的资源 打包成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打包出的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文件的名字就是 右下角的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AssetBundleName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简单两步走：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给需要打包的资源设置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AssetBundleName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BuildPipeline.BuildAssetBundles()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进行打包，打完完成后会在指定的路径下生成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AssetsBundle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715" y="93345"/>
            <a:ext cx="4576445" cy="6744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5520055"/>
            <a:ext cx="7227570" cy="13182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打包注意事项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3595" y="1808480"/>
            <a:ext cx="5733415" cy="3123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0" y="1201420"/>
            <a:ext cx="8177530" cy="44551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打包注意事项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705" y="869950"/>
            <a:ext cx="7229475" cy="56876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策略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030" y="1009015"/>
            <a:ext cx="9793605" cy="54375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"/>
          </p:nvPr>
        </p:nvSpPr>
        <p:spPr>
          <a:xfrm>
            <a:off x="4209101" y="3821991"/>
            <a:ext cx="5631315" cy="399097"/>
          </a:xfrm>
        </p:spPr>
        <p:txBody>
          <a:bodyPr/>
          <a:lstStyle/>
          <a:p>
            <a:r>
              <a:rPr lang="zh-CN" altLang="en-US" dirty="0" smtClean="0">
                <a:cs typeface="Times New Roman" panose="02020603050405020304"/>
              </a:rPr>
              <a:t>讲师：</a:t>
            </a:r>
            <a:r>
              <a:rPr lang="zh-CN" altLang="en-US" dirty="0" smtClean="0">
                <a:cs typeface="Times New Roman" panose="02020603050405020304"/>
                <a:sym typeface="+mn-ea"/>
              </a:rPr>
              <a:t>铸梦</a:t>
            </a:r>
            <a:endParaRPr lang="zh-CN" altLang="en-US" dirty="0" smtClean="0">
              <a:cs typeface="Times New Roman" panose="02020603050405020304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0">
              <a:lnSpc>
                <a:spcPct val="100000"/>
              </a:lnSpc>
            </a:pPr>
            <a:r>
              <a:rPr lang="zh-CN" sz="3200" b="1" dirty="0" smtClean="0">
                <a:sym typeface="Times New Roman" panose="02020603050405020304"/>
              </a:rPr>
              <a:t>可视化</a:t>
            </a:r>
            <a:r>
              <a:rPr sz="3200" b="1" dirty="0" smtClean="0">
                <a:sym typeface="Times New Roman" panose="02020603050405020304"/>
              </a:rPr>
              <a:t>多模块AssetBundle打包</a:t>
            </a:r>
            <a:r>
              <a:rPr lang="zh-CN" sz="3200" b="1" dirty="0" smtClean="0">
                <a:sym typeface="Times New Roman" panose="02020603050405020304"/>
              </a:rPr>
              <a:t>编译器</a:t>
            </a:r>
            <a:endParaRPr lang="zh-CN" sz="3200" b="1" dirty="0" smtClean="0">
              <a:sym typeface="Times New Roman" panose="02020603050405020304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5521324" y="2996952"/>
            <a:ext cx="5183188" cy="593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第一章节</a:t>
            </a:r>
            <a:endParaRPr lang="zh-CN" altLang="en-US" b="1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775081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sz="2800" b="1" dirty="0" smtClean="0">
                <a:sym typeface="Times New Roman" panose="02020603050405020304"/>
              </a:rPr>
              <a:t>可视化</a:t>
            </a:r>
            <a:r>
              <a:rPr sz="2800" b="1" dirty="0" smtClean="0">
                <a:sym typeface="Times New Roman" panose="02020603050405020304"/>
              </a:rPr>
              <a:t>多模块AssetBundle打包</a:t>
            </a:r>
            <a:r>
              <a:rPr lang="zh-CN" sz="2800" b="1" dirty="0" smtClean="0">
                <a:sym typeface="Times New Roman" panose="02020603050405020304"/>
              </a:rPr>
              <a:t>编译器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190" y="840105"/>
            <a:ext cx="8917940" cy="57270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7112635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sz="2800" b="1" dirty="0" smtClean="0">
                <a:sym typeface="Times New Roman" panose="02020603050405020304"/>
              </a:rPr>
              <a:t>可视化</a:t>
            </a:r>
            <a:r>
              <a:rPr sz="2800" b="1" dirty="0" smtClean="0">
                <a:sym typeface="Times New Roman" panose="02020603050405020304"/>
              </a:rPr>
              <a:t>多模块AssetBundle打包</a:t>
            </a:r>
            <a:r>
              <a:rPr lang="zh-CN" sz="2800" b="1" dirty="0" smtClean="0">
                <a:sym typeface="Times New Roman" panose="02020603050405020304"/>
              </a:rPr>
              <a:t>编译器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460" y="834390"/>
            <a:ext cx="8975090" cy="57327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"/>
          </p:nvPr>
        </p:nvSpPr>
        <p:spPr>
          <a:xfrm>
            <a:off x="4209101" y="3821991"/>
            <a:ext cx="5631315" cy="399097"/>
          </a:xfrm>
        </p:spPr>
        <p:txBody>
          <a:bodyPr/>
          <a:lstStyle/>
          <a:p>
            <a:r>
              <a:rPr lang="zh-CN" altLang="en-US" dirty="0" smtClean="0">
                <a:cs typeface="Times New Roman" panose="02020603050405020304"/>
              </a:rPr>
              <a:t>讲师：</a:t>
            </a:r>
            <a:r>
              <a:rPr lang="zh-CN" altLang="en-US" dirty="0" smtClean="0">
                <a:cs typeface="Times New Roman" panose="02020603050405020304"/>
                <a:sym typeface="+mn-ea"/>
              </a:rPr>
              <a:t>铸梦</a:t>
            </a:r>
            <a:endParaRPr lang="zh-CN" altLang="en-US" dirty="0" smtClean="0">
              <a:cs typeface="Times New Roman" panose="02020603050405020304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0">
              <a:lnSpc>
                <a:spcPct val="100000"/>
              </a:lnSpc>
            </a:pPr>
            <a:r>
              <a:rPr sz="3200" b="1" dirty="0" smtClean="0">
                <a:sym typeface="Times New Roman" panose="02020603050405020304"/>
              </a:rPr>
              <a:t>多模块AssetBundle打包器</a:t>
            </a:r>
            <a:endParaRPr sz="3200" b="1" dirty="0" smtClean="0">
              <a:sym typeface="Times New Roman" panose="02020603050405020304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5521324" y="2996952"/>
            <a:ext cx="5183188" cy="593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第二章节</a:t>
            </a:r>
            <a:endParaRPr lang="zh-CN" altLang="en-US" b="1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3474085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框架设计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15" y="1206500"/>
            <a:ext cx="7571740" cy="40379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"/>
          </p:nvPr>
        </p:nvSpPr>
        <p:spPr>
          <a:xfrm>
            <a:off x="4209101" y="3821991"/>
            <a:ext cx="5631315" cy="399097"/>
          </a:xfrm>
        </p:spPr>
        <p:txBody>
          <a:bodyPr/>
          <a:lstStyle/>
          <a:p>
            <a:r>
              <a:rPr lang="zh-CN" altLang="en-US" dirty="0" smtClean="0">
                <a:cs typeface="Times New Roman" panose="02020603050405020304"/>
              </a:rPr>
              <a:t>讲师：</a:t>
            </a:r>
            <a:r>
              <a:rPr lang="zh-CN" altLang="en-US" dirty="0" smtClean="0">
                <a:cs typeface="Times New Roman" panose="02020603050405020304"/>
                <a:sym typeface="+mn-ea"/>
              </a:rPr>
              <a:t>铸梦</a:t>
            </a:r>
            <a:endParaRPr lang="zh-CN" altLang="en-US" dirty="0" smtClean="0">
              <a:cs typeface="Times New Roman" panose="02020603050405020304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0">
              <a:lnSpc>
                <a:spcPct val="100000"/>
              </a:lnSpc>
            </a:pPr>
            <a:r>
              <a:rPr sz="3200" b="1" dirty="0" smtClean="0">
                <a:sym typeface="Times New Roman" panose="02020603050405020304"/>
              </a:rPr>
              <a:t>多模块、多线程负载均衡资源热更</a:t>
            </a:r>
            <a:endParaRPr sz="3200" b="1" dirty="0" smtClean="0">
              <a:sym typeface="Times New Roman" panose="02020603050405020304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5521324" y="2996952"/>
            <a:ext cx="5183188" cy="593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第三章节</a:t>
            </a:r>
            <a:endParaRPr lang="zh-CN" altLang="en-US" b="1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4843780" cy="163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sz="2800" b="1" dirty="0" smtClean="0">
                <a:sym typeface="Times New Roman" panose="02020603050405020304"/>
              </a:rPr>
              <a:t>多线程负载均衡资源热更</a:t>
            </a:r>
            <a:endParaRPr sz="2800" b="1" dirty="0" smtClean="0">
              <a:sym typeface="Times New Roman" panose="02020603050405020304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6305" y="986155"/>
            <a:ext cx="8813165" cy="10591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确实。 确实不会把游戏搞崩。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657860"/>
            <a:ext cx="10102215" cy="61448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"/>
          </p:nvPr>
        </p:nvSpPr>
        <p:spPr>
          <a:xfrm>
            <a:off x="4209101" y="3821991"/>
            <a:ext cx="5631315" cy="399097"/>
          </a:xfrm>
        </p:spPr>
        <p:txBody>
          <a:bodyPr/>
          <a:lstStyle/>
          <a:p>
            <a:r>
              <a:rPr lang="zh-CN" altLang="en-US" dirty="0" smtClean="0">
                <a:cs typeface="Times New Roman" panose="02020603050405020304"/>
              </a:rPr>
              <a:t>讲师：</a:t>
            </a:r>
            <a:r>
              <a:rPr lang="zh-CN" altLang="en-US" dirty="0" smtClean="0">
                <a:cs typeface="Times New Roman" panose="02020603050405020304"/>
                <a:sym typeface="+mn-ea"/>
              </a:rPr>
              <a:t>铸梦</a:t>
            </a:r>
            <a:endParaRPr lang="zh-CN" altLang="en-US" dirty="0" smtClean="0">
              <a:cs typeface="Times New Roman" panose="02020603050405020304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hangingPunct="0">
              <a:lnSpc>
                <a:spcPct val="100000"/>
              </a:lnSpc>
            </a:pPr>
            <a:r>
              <a:rPr lang="en-US" altLang="zh-CN" sz="4000" b="1" dirty="0" smtClean="0">
                <a:sym typeface="Times New Roman" panose="02020603050405020304"/>
              </a:rPr>
              <a:t>AssetBundle</a:t>
            </a:r>
            <a:r>
              <a:rPr lang="zh-CN" altLang="en-US" sz="4000" b="1" dirty="0" smtClean="0">
                <a:sym typeface="Times New Roman" panose="02020603050405020304"/>
              </a:rPr>
              <a:t>资源加载管理</a:t>
            </a:r>
            <a:endParaRPr lang="zh-CN" altLang="en-US" sz="4000" b="1" dirty="0" smtClean="0">
              <a:sym typeface="Times New Roman" panose="02020603050405020304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4294967295"/>
          </p:nvPr>
        </p:nvSpPr>
        <p:spPr>
          <a:xfrm>
            <a:off x="5521324" y="2996952"/>
            <a:ext cx="5183188" cy="593951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第四章节</a:t>
            </a:r>
            <a:endParaRPr lang="zh-CN" altLang="en-US" b="1" dirty="0" smtClean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698754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" y="1250315"/>
            <a:ext cx="11579860" cy="40868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825119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Reference Count</a:t>
            </a:r>
            <a:r>
              <a:rPr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内存引用计数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" y="793750"/>
            <a:ext cx="10885805" cy="57994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6305" y="93345"/>
            <a:ext cx="698754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释放机制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0" y="715645"/>
            <a:ext cx="9076690" cy="60255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4720" y="84455"/>
            <a:ext cx="639826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加载资源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0" y="1671955"/>
            <a:ext cx="11229340" cy="37846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4720" y="84455"/>
            <a:ext cx="5886450" cy="1251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AssetBundle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加载资源流程图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40" y="1095375"/>
            <a:ext cx="11688445" cy="46767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rgbClr val="5F5F5F"/>
      </a:dk1>
      <a:lt1>
        <a:srgbClr val="F2F2F2"/>
      </a:lt1>
      <a:dk2>
        <a:srgbClr val="A7A7A7"/>
      </a:dk2>
      <a:lt2>
        <a:srgbClr val="535353"/>
      </a:lt2>
      <a:accent1>
        <a:srgbClr val="4A6982"/>
      </a:accent1>
      <a:accent2>
        <a:srgbClr val="E86262"/>
      </a:accent2>
      <a:accent3>
        <a:srgbClr val="878B79"/>
      </a:accent3>
      <a:accent4>
        <a:srgbClr val="E29860"/>
      </a:accent4>
      <a:accent5>
        <a:srgbClr val="A06C6D"/>
      </a:accent5>
      <a:accent6>
        <a:srgbClr val="DE8E8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12700" cap="flat">
          <a:solidFill>
            <a:schemeClr val="bg2">
              <a:lumMod val="60000"/>
              <a:lumOff val="40000"/>
            </a:schemeClr>
          </a:solidFill>
          <a:prstDash val="solid"/>
          <a:miter lim="800000"/>
        </a:ln>
      </a:spPr>
      <a:bodyPr rot="0" vertOverflow="overflow" horzOverflow="overflow" vert="horz" wrap="square" lIns="45719" tIns="45719" rIns="45719" bIns="45719" numCol="1" spcCol="38100" rtlCol="0" anchor="ctr" forceAA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lang="zh-CN" altLang="en-US" sz="1800" b="0" i="0" u="none" strike="noStrike" cap="none" spc="0" normalizeH="0" baseline="0">
            <a:ln>
              <a:noFill/>
            </a:ln>
            <a:solidFill>
              <a:srgbClr val="5F5F5F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800" b="0" i="0" u="none" strike="noStrike" cap="none" spc="0" normalizeH="0" baseline="0" dirty="0" smtClean="0">
            <a:ln>
              <a:noFill/>
            </a:ln>
            <a:solidFill>
              <a:schemeClr val="bg1">
                <a:lumMod val="50000"/>
              </a:schemeClr>
            </a:solidFill>
            <a:effectLst/>
            <a:uFillTx/>
            <a:latin typeface="微软雅黑" panose="020B0503020204020204" pitchFamily="34" charset="-122"/>
            <a:ea typeface="微软雅黑" panose="020B0503020204020204" pitchFamily="34" charset="-122"/>
            <a:sym typeface="Times New Roman" panose="02020603050405020304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A6982"/>
      </a:accent1>
      <a:accent2>
        <a:srgbClr val="E86262"/>
      </a:accent2>
      <a:accent3>
        <a:srgbClr val="878B79"/>
      </a:accent3>
      <a:accent4>
        <a:srgbClr val="E29860"/>
      </a:accent4>
      <a:accent5>
        <a:srgbClr val="A06C6D"/>
      </a:accent5>
      <a:accent6>
        <a:srgbClr val="DE8E8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5F5F5F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5F5F5F"/>
            </a:solidFill>
            <a:effectLst/>
            <a:uFillTx/>
            <a:latin typeface="Times New Roman" panose="02020603050405020304"/>
            <a:ea typeface="Times New Roman" panose="02020603050405020304"/>
            <a:cs typeface="Times New Roman" panose="02020603050405020304"/>
            <a:sym typeface="Times New Roman" panose="020206030504050203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1652</Words>
  <Application>WPS 演示</Application>
  <PresentationFormat>自定义</PresentationFormat>
  <Paragraphs>151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微软雅黑</vt:lpstr>
      <vt:lpstr>小米兰亭</vt:lpstr>
      <vt:lpstr>Arial</vt:lpstr>
      <vt:lpstr>Calibri</vt:lpstr>
      <vt:lpstr>Arial Unicode MS</vt:lpstr>
      <vt:lpstr>Office 主题</vt:lpstr>
      <vt:lpstr>ZMAssetsFrameWork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可视化多模块AssetBundle打包编译器</vt:lpstr>
      <vt:lpstr>PowerPoint 演示文稿</vt:lpstr>
      <vt:lpstr>PowerPoint 演示文稿</vt:lpstr>
      <vt:lpstr>多模块AssetBundle打包器</vt:lpstr>
      <vt:lpstr>PowerPoint 演示文稿</vt:lpstr>
      <vt:lpstr>多模块、多线程负载均衡资源热更</vt:lpstr>
      <vt:lpstr>PowerPoint 演示文稿</vt:lpstr>
      <vt:lpstr>AssetBundle资源加载管理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Socket异步聊天室</dc:title>
  <dc:creator>CSDN学院</dc:creator>
  <cp:lastModifiedBy>Administrator</cp:lastModifiedBy>
  <cp:revision>50</cp:revision>
  <dcterms:created xsi:type="dcterms:W3CDTF">2021-01-21T17:06:00Z</dcterms:created>
  <dcterms:modified xsi:type="dcterms:W3CDTF">2023-02-18T14:19:41Z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2052-10.1.0.7468</vt:lpwstr>
  </property>
</Properties>
</file>